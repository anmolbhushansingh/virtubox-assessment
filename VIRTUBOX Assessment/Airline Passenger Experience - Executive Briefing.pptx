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EXECUTIVE BRIEFING — AIRLINE LEADERSHIP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Turning Passenger Discontent into Profitable Growth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Pinpointing high-ROI service touchpoints in a low-switching-cost market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1965960"/>
            <a:ext cx="3520440" cy="3246120"/>
          </a:xfrm>
          <a:prstGeom prst="roundRect">
            <a:avLst>
              <a:gd fmla="val 2535" name="adj"/>
            </a:avLst>
          </a:prstGeom>
          <a:solidFill>
            <a:srgbClr val="13203F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777240" y="216712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THE URGENT CHALLENGE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777240" y="2468880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56.1%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777240" y="3383280"/>
            <a:ext cx="3063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Dissatisfaction baseline. Over half of passengers leave neutral or dissatisfied. In a world of instant online aggregators, switching carriers takes seconds — driving churn and destroying customer lifetime value (LTV).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389120" y="1965960"/>
            <a:ext cx="3520440" cy="3246120"/>
          </a:xfrm>
          <a:prstGeom prst="roundRect">
            <a:avLst>
              <a:gd fmla="val 2535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4617720" y="216712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THE STRATEGIC DILEMMA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4617720" y="2468880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Capital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vs. Impact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4617720" y="3383280"/>
            <a:ext cx="3063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New aircraft or full cabin overhauls cost hundreds of millions of dollars and take years to deliver. Leadership needs rapid, targeted service fixes with immediate retention impact.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229600" y="1965960"/>
            <a:ext cx="3520440" cy="3246120"/>
          </a:xfrm>
          <a:prstGeom prst="roundRect">
            <a:avLst>
              <a:gd fmla="val 2535" name="adj"/>
            </a:avLst>
          </a:prstGeom>
          <a:solidFill>
            <a:srgbClr val="13203F"/>
          </a:solidFill>
          <a:ln cap="flat" cmpd="sng" w="158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8458200" y="216712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THE STRATEGIC OPPORTUNITY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8458200" y="2468880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Targeted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Service ROI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8458200" y="3383280"/>
            <a:ext cx="3063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Pinpointing the exact touchpoints that drive loyalty lets us reallocate capital to high-impact moments — like digital boarding — while cutting overspend on low-value amenities.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fmla="val 9474" name="adj"/>
            </a:avLst>
          </a:prstGeom>
          <a:solidFill>
            <a:srgbClr val="17264A"/>
          </a:solidFill>
          <a:ln cap="flat" cmpd="sng" w="15875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 txBox="1"/>
          <p:nvPr/>
        </p:nvSpPr>
        <p:spPr>
          <a:xfrm>
            <a:off x="868680" y="55595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CORE QUESTION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868680" y="5824728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specific service investments generate the greatest lift in passenger loyalty per dollar spent?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Comprehensive Passenger Experience Audit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Rigorous data hygiene, operational logging, and segmentation framework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2057400"/>
            <a:ext cx="3520440" cy="3977640"/>
          </a:xfrm>
          <a:prstGeom prst="roundRect">
            <a:avLst>
              <a:gd fmla="val 2338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04672" y="2331720"/>
            <a:ext cx="566928" cy="566928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804672" y="23317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777240" y="310896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Dataset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777240" y="3611880"/>
            <a:ext cx="30632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Audited 25,976 verified post-flight passenger surveys across 14 service touchpoints (1–5 scale), plus operational flight-delay logs, route distances, and cabin classes.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389120" y="2057400"/>
            <a:ext cx="3520440" cy="3977640"/>
          </a:xfrm>
          <a:prstGeom prst="roundRect">
            <a:avLst>
              <a:gd fmla="val 2338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645152" y="2331720"/>
            <a:ext cx="566928" cy="566928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4645152" y="23317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4617720" y="310896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4617720" y="3611880"/>
            <a:ext cx="30632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Imputed missing arrival-delay logs using departure correlation (r &gt; 0.96); categorized delays into operational tiers — On-Time, 1–15m, 16–60m, &gt;60m — to eliminate outlier skew; engineered binary satisfaction metrics.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229600" y="2057400"/>
            <a:ext cx="3520440" cy="3977640"/>
          </a:xfrm>
          <a:prstGeom prst="roundRect">
            <a:avLst>
              <a:gd fmla="val 2338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8485632" y="2331720"/>
            <a:ext cx="566928" cy="566928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8485632" y="23317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8458200" y="310896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Analytical Framework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8458200" y="3611880"/>
            <a:ext cx="30632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Segmented customer journeys by travel purpose (Corporate vs. Leisure) and cabin tier; modeled feature correlations against satisfaction to isolate true loyalty drivers.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CORE FINDINGS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 Strategic Findings Shaping Passenger Sentiment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Key discoveries defining passenger retention and operational performance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2011680"/>
            <a:ext cx="5440680" cy="1965960"/>
          </a:xfrm>
          <a:prstGeom prst="roundRect">
            <a:avLst>
              <a:gd fmla="val 4186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77240" y="2240280"/>
            <a:ext cx="1188720" cy="457200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777240" y="2240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32B"/>
                </a:solidFill>
                <a:latin typeface="Calibri"/>
                <a:ea typeface="Calibri"/>
                <a:cs typeface="Calibri"/>
                <a:sym typeface="Calibri"/>
              </a:rPr>
              <a:t>19.4%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2148840" y="2258568"/>
            <a:ext cx="3611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Economy Cabin Crisis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777240" y="2834640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Economy class records an alarming 19.4% satisfaction rate vs. 69.5% in Business. Holding over 50% of volume, Economy generates 73.1% of all dissatisfied flyers.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172200" y="2011680"/>
            <a:ext cx="5440680" cy="1965960"/>
          </a:xfrm>
          <a:prstGeom prst="roundRect">
            <a:avLst>
              <a:gd fmla="val 4186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400800" y="2240280"/>
            <a:ext cx="1188720" cy="457200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6400800" y="2240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32B"/>
                </a:solidFill>
                <a:latin typeface="Calibri"/>
                <a:ea typeface="Calibri"/>
                <a:cs typeface="Calibri"/>
                <a:sym typeface="Calibri"/>
              </a:rPr>
              <a:t>10.0%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772400" y="2258568"/>
            <a:ext cx="3611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Leisure Disconnect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6400800" y="2834640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Only 10.0% of personal/leisure travelers leave satisfied. Even in Business Class, leisure satisfaction stays under 10% — an operational model skewed toward business travelers.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4206240"/>
            <a:ext cx="5440680" cy="1965960"/>
          </a:xfrm>
          <a:prstGeom prst="roundRect">
            <a:avLst>
              <a:gd fmla="val 4186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777240" y="4434840"/>
            <a:ext cx="1188720" cy="4572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777240" y="44348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32B"/>
                </a:solidFill>
                <a:latin typeface="Calibri"/>
                <a:ea typeface="Calibri"/>
                <a:cs typeface="Calibri"/>
                <a:sym typeface="Calibri"/>
              </a:rPr>
              <a:t>2x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2148840" y="4453128"/>
            <a:ext cx="3611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 Trumps Catering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77240" y="5029200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Online boarding (r = 0.495) has more than double the statistical correlation with satisfaction than food and beverages (r = 0.217). Seamless digital workflows outweigh meal revamps.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172200" y="4206240"/>
            <a:ext cx="5440680" cy="1965960"/>
          </a:xfrm>
          <a:prstGeom prst="roundRect">
            <a:avLst>
              <a:gd fmla="val 4186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400800" y="4434840"/>
            <a:ext cx="1188720" cy="4572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6400800" y="44348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32B"/>
                </a:solidFill>
                <a:latin typeface="Calibri"/>
                <a:ea typeface="Calibri"/>
                <a:cs typeface="Calibri"/>
                <a:sym typeface="Calibri"/>
              </a:rPr>
              <a:t>65.1%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772400" y="4453128"/>
            <a:ext cx="3611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Mitigates Delays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6400800" y="5029200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Flight delays don't automatically kill loyalty. Flights delayed over an hour still achieve 65.1% satisfaction with high frontline service — vs. just 30.2% on-time with poor service.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DEEP DIVE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Digital Boarding Advantage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Why the customer's first operational touchpoint anchors entire flight sentiment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48640" y="2057400"/>
            <a:ext cx="5623560" cy="3977640"/>
          </a:xfrm>
          <a:prstGeom prst="roundRect">
            <a:avLst>
              <a:gd fmla="val 2069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822960" y="228600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THE SATISFACTION CLIFF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822960" y="274320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Boarding Rated 4 or 5 /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22960" y="3063240"/>
            <a:ext cx="5074920" cy="457200"/>
          </a:xfrm>
          <a:prstGeom prst="roundRect">
            <a:avLst>
              <a:gd fmla="val 12000" name="adj"/>
            </a:avLst>
          </a:prstGeom>
          <a:solidFill>
            <a:srgbClr val="2A3B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22960" y="3063240"/>
            <a:ext cx="4141135" cy="457200"/>
          </a:xfrm>
          <a:prstGeom prst="roundRect">
            <a:avLst>
              <a:gd fmla="val 12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960120" y="306324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32B"/>
                </a:solidFill>
                <a:latin typeface="Calibri"/>
                <a:ea typeface="Calibri"/>
                <a:cs typeface="Calibri"/>
                <a:sym typeface="Calibri"/>
              </a:rPr>
              <a:t>81.6% Satisfied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822960" y="374904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Boarding Rated 1, 2, or 3 /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22960" y="4069080"/>
            <a:ext cx="5074920" cy="457200"/>
          </a:xfrm>
          <a:prstGeom prst="roundRect">
            <a:avLst>
              <a:gd fmla="val 12000" name="adj"/>
            </a:avLst>
          </a:prstGeom>
          <a:solidFill>
            <a:srgbClr val="2A3B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22960" y="4069080"/>
            <a:ext cx="669889" cy="457200"/>
          </a:xfrm>
          <a:prstGeom prst="roundRect">
            <a:avLst>
              <a:gd fmla="val 12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 txBox="1"/>
          <p:nvPr/>
        </p:nvSpPr>
        <p:spPr>
          <a:xfrm>
            <a:off x="1630009" y="40690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13.2%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822960" y="4754880"/>
            <a:ext cx="5074920" cy="1051560"/>
          </a:xfrm>
          <a:prstGeom prst="roundRect">
            <a:avLst>
              <a:gd fmla="val 7826" name="adj"/>
            </a:avLst>
          </a:prstGeom>
          <a:solidFill>
            <a:srgbClr val="17264A"/>
          </a:solidFill>
          <a:ln cap="flat" cmpd="sng" w="15875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 txBox="1"/>
          <p:nvPr/>
        </p:nvSpPr>
        <p:spPr>
          <a:xfrm>
            <a:off x="1051560" y="4873752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+1.35 RATING GAP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1051560" y="521208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Between satisfied (4.02/5) and dissatisfied (2.67/5) passengers — the widest gap of any service evaluated.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355080" y="2057400"/>
            <a:ext cx="5257800" cy="3977640"/>
          </a:xfrm>
          <a:prstGeom prst="roundRect">
            <a:avLst>
              <a:gd fmla="val 2069" name="adj"/>
            </a:avLst>
          </a:prstGeom>
          <a:solidFill>
            <a:srgbClr val="17264A"/>
          </a:solidFill>
          <a:ln cap="flat" cmpd="sng" w="158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 txBox="1"/>
          <p:nvPr/>
        </p:nvSpPr>
        <p:spPr>
          <a:xfrm>
            <a:off x="6629400" y="2313432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BEHAVIORAL PRINCIPLE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6629400" y="2606040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Anchoring Effect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6629400" y="3246120"/>
            <a:ext cx="4709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Mobile check-in and gate boarding represent the customer's first live operational interaction on travel day. A buggy app, failed wallet sync, or chaotic gate line puts passengers into a negative state of mind before they even reach their seat.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6"/>
          <p:cNvCxnSpPr/>
          <p:nvPr/>
        </p:nvCxnSpPr>
        <p:spPr>
          <a:xfrm>
            <a:off x="6629400" y="4754880"/>
            <a:ext cx="4709160" cy="0"/>
          </a:xfrm>
          <a:prstGeom prst="straightConnector1">
            <a:avLst/>
          </a:prstGeom>
          <a:noFill/>
          <a:ln cap="flat" cmpd="sng" w="12700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6"/>
          <p:cNvSpPr txBox="1"/>
          <p:nvPr/>
        </p:nvSpPr>
        <p:spPr>
          <a:xfrm>
            <a:off x="6629400" y="489204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THE CONSEQUENCE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6629400" y="5184648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Once agitated before takeoff, passengers perceive seat pitch, meal quality, and crew interactions significantly more harshly throughout the entire journey.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Strategic Action Plan: Prioritizing Feasibility &amp; ROI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Clear management accountability ranked by capital expenditure and business impact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48640" y="2011680"/>
            <a:ext cx="11064240" cy="1371600"/>
          </a:xfrm>
          <a:prstGeom prst="roundRect">
            <a:avLst>
              <a:gd fmla="val 6000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777240" y="2194560"/>
            <a:ext cx="2743200" cy="310896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777240" y="2194560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B132B"/>
                </a:solidFill>
                <a:latin typeface="Calibri"/>
                <a:ea typeface="Calibri"/>
                <a:cs typeface="Calibri"/>
                <a:sym typeface="Calibri"/>
              </a:rPr>
              <a:t>PRIORITY 1 — IMMEDIATE / HIGH ROI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777240" y="2542032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Overhaul Digital Boarding Experience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4709160" y="2194560"/>
            <a:ext cx="4617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Redesign mobile check-in for one-tap completion, automatic Apple/Google Wallet pass delivery, and self-scan gate boarding.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9464040" y="219456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OWNER: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CTO &amp; Head of Ground Operations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 software and workflow optimization; zero aircraft downtime.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48640" y="3566160"/>
            <a:ext cx="11064240" cy="1371600"/>
          </a:xfrm>
          <a:prstGeom prst="roundRect">
            <a:avLst>
              <a:gd fmla="val 6000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777240" y="3749040"/>
            <a:ext cx="2743200" cy="310896"/>
          </a:xfrm>
          <a:prstGeom prst="roundRect">
            <a:avLst>
              <a:gd fmla="val 50000" name="adj"/>
            </a:avLst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777240" y="3749040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B132B"/>
                </a:solidFill>
                <a:latin typeface="Calibri"/>
                <a:ea typeface="Calibri"/>
                <a:cs typeface="Calibri"/>
                <a:sym typeface="Calibri"/>
              </a:rPr>
              <a:t>PRIORITY 2 — FAST EXECUTION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777240" y="4096512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 Flight Delay Recovery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4709160" y="3749040"/>
            <a:ext cx="4617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Deploy automated delay-recovery playbook: proactive SMS delay warnings, automated $15 meal vouchers at 45-minute delay, and free messaging Wi-Fi during runway holds.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9464040" y="374904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OWNER: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 of Customer Experience &amp; Dispatch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Protects customer retention and preserves brand trust during weather/ATC disruptions.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48640" y="5120640"/>
            <a:ext cx="11064240" cy="1371600"/>
          </a:xfrm>
          <a:prstGeom prst="roundRect">
            <a:avLst>
              <a:gd fmla="val 6000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777240" y="5303520"/>
            <a:ext cx="2743200" cy="310896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777240" y="5303520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3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B132B"/>
                </a:solidFill>
                <a:latin typeface="Calibri"/>
                <a:ea typeface="Calibri"/>
                <a:cs typeface="Calibri"/>
                <a:sym typeface="Calibri"/>
              </a:rPr>
              <a:t>PRIORITY 3 — MEDIUM-TERM / 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777240" y="5650992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Upgrade Economy Essentials over Catering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4709160" y="5303520"/>
            <a:ext cx="4617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Reallocate catering-menu budgets into ergonomic seat-cushion maintenance, universal USB-C ports, and BYOD streaming libraries.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9464040" y="530352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OWNER: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 of Inflight Product &amp; Fleet Procurement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Directly addresses the source of 73% of company-wide dissatisfaction.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IMPACT &amp; ACCOUNTABILITY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Expected Business Impact &amp; Performance Scorecard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12-month quantitative targets and operational governance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48640" y="2011680"/>
            <a:ext cx="3520440" cy="1600200"/>
          </a:xfrm>
          <a:prstGeom prst="roundRect">
            <a:avLst>
              <a:gd fmla="val 5143" name="adj"/>
            </a:avLst>
          </a:prstGeom>
          <a:solidFill>
            <a:srgbClr val="17264A"/>
          </a:solidFill>
          <a:ln cap="flat" cmpd="sng" w="158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777240" y="219456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OVERALL BRAND SATISFACTION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777240" y="269748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43.9%</a:t>
            </a:r>
            <a:r>
              <a:rPr b="0" i="0" lang="en-US" sz="16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   →   </a:t>
            </a: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&gt; 55.0%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389120" y="2011680"/>
            <a:ext cx="3520440" cy="1600200"/>
          </a:xfrm>
          <a:prstGeom prst="roundRect">
            <a:avLst>
              <a:gd fmla="val 5143" name="adj"/>
            </a:avLst>
          </a:prstGeom>
          <a:solidFill>
            <a:srgbClr val="17264A"/>
          </a:solidFill>
          <a:ln cap="flat" cmpd="sng" w="158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4617720" y="219456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ECONOMY CABIN SATISFACTION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4617720" y="269748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19.4%</a:t>
            </a:r>
            <a:r>
              <a:rPr b="0" i="0" lang="en-US" sz="16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   →   </a:t>
            </a: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&gt; 35.0%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229600" y="2011680"/>
            <a:ext cx="3520440" cy="1600200"/>
          </a:xfrm>
          <a:prstGeom prst="roundRect">
            <a:avLst>
              <a:gd fmla="val 5143" name="adj"/>
            </a:avLst>
          </a:prstGeom>
          <a:solidFill>
            <a:srgbClr val="17264A"/>
          </a:solidFill>
          <a:ln cap="flat" cmpd="sng" w="158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8458200" y="219456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DIGITAL BOARDING 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8458200" y="269748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3.26 / 5.0</a:t>
            </a:r>
            <a:r>
              <a:rPr b="0" i="0" lang="en-US" sz="16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   →   </a:t>
            </a: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≥ 4.20 / 5.0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548640" y="3977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MONTHLY OPERATIONAL SCORECARD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48640" y="4343400"/>
            <a:ext cx="2651760" cy="1828800"/>
          </a:xfrm>
          <a:prstGeom prst="roundRect">
            <a:avLst>
              <a:gd fmla="val 4500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777240" y="4572000"/>
            <a:ext cx="365760" cy="365760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77724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749808" y="5074920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Boarding Pass Adoption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749808" y="5715000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&gt; 85% of bookings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383280" y="4343400"/>
            <a:ext cx="2651760" cy="1828800"/>
          </a:xfrm>
          <a:prstGeom prst="roundRect">
            <a:avLst>
              <a:gd fmla="val 4500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3611880" y="4572000"/>
            <a:ext cx="365760" cy="365760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36118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3584448" y="5074920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Post-Delay Customer Rebooking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3584448" y="5715000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+15% retention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217920" y="4343400"/>
            <a:ext cx="2651760" cy="1828800"/>
          </a:xfrm>
          <a:prstGeom prst="roundRect">
            <a:avLst>
              <a:gd fmla="val 4500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6446520" y="4572000"/>
            <a:ext cx="365760" cy="365760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 txBox="1"/>
          <p:nvPr/>
        </p:nvSpPr>
        <p:spPr>
          <a:xfrm>
            <a:off x="644652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6419088" y="5074920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Complaints per 1,000 Flyers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6419088" y="5715000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−25% reduction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052560" y="4343400"/>
            <a:ext cx="2651760" cy="1828800"/>
          </a:xfrm>
          <a:prstGeom prst="roundRect">
            <a:avLst>
              <a:gd fmla="val 4500" name="adj"/>
            </a:avLst>
          </a:prstGeom>
          <a:solidFill>
            <a:srgbClr val="13203F"/>
          </a:solidFill>
          <a:ln cap="flat" cmpd="sng" w="15875">
            <a:solidFill>
              <a:srgbClr val="2A3B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9281160" y="4572000"/>
            <a:ext cx="365760" cy="365760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928116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9253728" y="5074920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Economy Cabin NPS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9253728" y="5715000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+18 point improvement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GOVERNANCE &amp; ROADMAP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Strategic Safeguards &amp; Next Analytical Steps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Key management watchouts and the forward analytical roadmap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48640" y="2011680"/>
            <a:ext cx="5440680" cy="3977640"/>
          </a:xfrm>
          <a:prstGeom prst="roundRect">
            <a:avLst>
              <a:gd fmla="val 2069" name="adj"/>
            </a:avLst>
          </a:prstGeom>
          <a:solidFill>
            <a:srgbClr val="17264A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822960" y="224028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MANAGEMENT SAFEGUARDS &amp; WATCHOUTS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822960" y="269748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Lack of Fare Yield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822960" y="3044952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This dataset measures customer perception, not unit economics. Physical seat refits must be cross-referenced with route ticket margins before fleet rollout.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822960" y="425196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Delays Still Incur Hard Costs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822960" y="4599432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Although delays have a muted impact on survey satisfaction, they trigger hard financial penalties — crew overtime, misconnected bags, aircraft repositioning.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172200" y="2011680"/>
            <a:ext cx="5440680" cy="3977640"/>
          </a:xfrm>
          <a:prstGeom prst="roundRect">
            <a:avLst>
              <a:gd fmla="val 2069" name="adj"/>
            </a:avLst>
          </a:prstGeom>
          <a:solidFill>
            <a:srgbClr val="17264A"/>
          </a:solidFill>
          <a:ln cap="flat" cmpd="sng" w="15875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6446520" y="224028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NEXT IMMEDIATE ANALYTICAL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6446520" y="269748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Lifetime Value (LTV) Modeling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6446520" y="3044952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Merge survey feedback with passenger ticketing databases to calculate the exact revenue uplift of moving an Economy flyer from dissatisfied to satisfied.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6446520" y="425196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Focused Leisure Traveler Journey Audit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6446520" y="4599432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B4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9B4D2"/>
                </a:solidFill>
                <a:latin typeface="Calibri"/>
                <a:ea typeface="Calibri"/>
                <a:cs typeface="Calibri"/>
                <a:sym typeface="Calibri"/>
              </a:rPr>
              <a:t>Conduct dedicated surveys targeting personal/family flyers to resolve baggage-fee transparency and group-seating friction.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5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